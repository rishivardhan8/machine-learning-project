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73" r:id="rId15"/>
    <p:sldId id="274" r:id="rId16"/>
    <p:sldId id="275" r:id="rId17"/>
    <p:sldId id="276" r:id="rId18"/>
    <p:sldId id="27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326880" y="1143000"/>
            <a:ext cx="274320" cy="274320"/>
          </a:xfrm>
          <a:prstGeom prst="ellipse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24160" y="1828800"/>
            <a:ext cx="201168" cy="201168"/>
          </a:xfrm>
          <a:prstGeom prst="ellipse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2743200"/>
            <a:ext cx="219456" cy="219456"/>
          </a:xfrm>
          <a:prstGeom prst="ellipse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20" y="3657600"/>
            <a:ext cx="292608" cy="292608"/>
          </a:xfrm>
          <a:prstGeom prst="ellipse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1200" y="4754880"/>
            <a:ext cx="182880" cy="182880"/>
          </a:xfrm>
          <a:prstGeom prst="ellipse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247120" y="5120640"/>
            <a:ext cx="201168" cy="201168"/>
          </a:xfrm>
          <a:prstGeom prst="ellipse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138160" y="4114800"/>
            <a:ext cx="164592" cy="164592"/>
          </a:xfrm>
          <a:prstGeom prst="ellipse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9464040" y="1280160"/>
            <a:ext cx="1051560" cy="64008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098280" y="1920240"/>
            <a:ext cx="1417320" cy="9144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98280" y="2834640"/>
            <a:ext cx="1828800" cy="9601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738360" y="3794760"/>
            <a:ext cx="1188720" cy="10515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738360" y="4846320"/>
            <a:ext cx="160020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229600" y="2834640"/>
            <a:ext cx="868680" cy="13716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27080" y="3794760"/>
            <a:ext cx="411480" cy="1417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658368"/>
            <a:ext cx="6035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ptos"/>
              </a:rPr>
              <a:t>FINAL PROJECT PRESENTATION  |  2026–27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298448"/>
            <a:ext cx="676656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ptos"/>
              </a:rPr>
              <a:t>LSTM Autoencoder-Based
Persistent and Transient Anomaly Classification in Open RAN KPIs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3154680"/>
            <a:ext cx="1005840" cy="64008"/>
          </a:xfrm>
          <a:prstGeom prst="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3456432"/>
            <a:ext cx="6126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ptos"/>
              </a:rPr>
              <a:t>Machine Learning • Open Radio Access Networks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224528"/>
            <a:ext cx="6217920" cy="10515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Yaswanth Srikar  |  2520040026
Omprakash Jena  |  2520040057
Rishi Vardhan  |  2520040078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559552"/>
            <a:ext cx="66751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Guide: Dr. Vinnakota Venu Balaji  •  Department of ECE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492240"/>
            <a:ext cx="4572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01 •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The problem: not every anomaly is a 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Open RAN produces time-dependent KPIs that need context, not just fixed thresholds.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429000" cy="141732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874519"/>
            <a:ext cx="82296" cy="14173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084831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78608"/>
            <a:ext cx="283464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ptos"/>
              </a:rPr>
              <a:t>KPIs follow expected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874519"/>
            <a:ext cx="3429000" cy="141732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874519"/>
            <a:ext cx="82296" cy="14173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084831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TRANSIENT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578608"/>
            <a:ext cx="283464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ptos"/>
              </a:rPr>
              <a:t>A short deviation, then recovery.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74519"/>
            <a:ext cx="3429000" cy="141732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1874519"/>
            <a:ext cx="82296" cy="1417320"/>
          </a:xfrm>
          <a:prstGeom prst="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31352" y="2084831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PERSISTENT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2" y="2578608"/>
            <a:ext cx="283464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ptos"/>
              </a:rPr>
              <a:t>Abnormal behaviour continues.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66560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dirty="0">
                <a:solidFill>
                  <a:srgbClr val="000000"/>
                </a:solidFill>
                <a:latin typeface="Aptos"/>
              </a:rPr>
              <a:t>Illustrative throughput sequence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160520"/>
            <a:ext cx="713232" cy="15544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7" y="4187952"/>
            <a:ext cx="868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ptos"/>
              </a:rPr>
              <a:t>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7" y="58064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ptos"/>
              </a:rPr>
              <a:t>t1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4126230"/>
            <a:ext cx="713232" cy="158877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41448" y="4153662"/>
            <a:ext cx="868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ptos"/>
              </a:rPr>
              <a:t>95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1448" y="58064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ptos"/>
              </a:rPr>
              <a:t>t2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1920" y="4171950"/>
            <a:ext cx="713232" cy="15430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58768" y="4199382"/>
            <a:ext cx="868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ptos"/>
              </a:rPr>
              <a:t>91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58064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ptos"/>
              </a:rPr>
              <a:t>t3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49240" y="4869180"/>
            <a:ext cx="713232" cy="84582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76088" y="4896612"/>
            <a:ext cx="868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ptos"/>
              </a:rPr>
              <a:t>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6088" y="58064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ptos"/>
              </a:rPr>
              <a:t>t4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4149089"/>
            <a:ext cx="713232" cy="156591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93408" y="4176522"/>
            <a:ext cx="868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ptos"/>
              </a:rPr>
              <a:t>93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3408" y="58064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ptos"/>
              </a:rPr>
              <a:t>t5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4114800"/>
            <a:ext cx="713232" cy="16002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110727" y="4142232"/>
            <a:ext cx="868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ptos"/>
              </a:rPr>
              <a:t>96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0727" y="58064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ptos"/>
              </a:rPr>
              <a:t>t6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0" y="4137660"/>
            <a:ext cx="713232" cy="157733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28048" y="4165092"/>
            <a:ext cx="8686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ptos"/>
              </a:rPr>
              <a:t>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28048" y="5806440"/>
            <a:ext cx="8686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ptos"/>
              </a:rPr>
              <a:t>t7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126480"/>
            <a:ext cx="98755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ptos"/>
              </a:rPr>
              <a:t>One sudden drop that recovers may be transient; a sustained drop may be persistent.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02 •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What this project aims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Separate detection of abnormal behaviour from its duration-based interpretation.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74920" cy="1353312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548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39112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Aptos"/>
              </a:rPr>
              <a:t>Prepare KPI time 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41448"/>
            <a:ext cx="3886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Handle timestamps, missing values, scaling and windows.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874519"/>
            <a:ext cx="5074920" cy="1353312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59" y="2039112"/>
            <a:ext cx="548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039112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Aptos"/>
              </a:rPr>
              <a:t>Learn normal behaviour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2441448"/>
            <a:ext cx="3886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Train an LSTM Autoencoder mainly on baseline recordings.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5074920" cy="1353312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867911"/>
            <a:ext cx="548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67911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Aptos"/>
              </a:rPr>
              <a:t>Detect deviations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270248"/>
            <a:ext cx="3886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Use reconstruction error and a validation-derived threshold.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703320"/>
            <a:ext cx="5074920" cy="1353312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59" y="3867911"/>
            <a:ext cx="548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3867911"/>
            <a:ext cx="3886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Aptos"/>
              </a:rPr>
              <a:t>Interpret duration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4270248"/>
            <a:ext cx="38862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Use temporal continuity to flag short-lived vs sustained anomalies.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03 •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SpotLight Open RAN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Experiments use baseline and anomaly recordings from the SpotLight project.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074920" cy="324612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4389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BASELINE RECORDINGS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438912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ptos"/>
              </a:rPr>
              <a:t>• 1UE
• 5UE
• 7UE-Ping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51960"/>
            <a:ext cx="43891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Used primarily to learn normal KPI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828800"/>
            <a:ext cx="5257800" cy="324612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084831"/>
            <a:ext cx="44805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ANOMALY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06040"/>
            <a:ext cx="448056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• MAC   • MIXED   • NETWORK
• PDCP  • RADIO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251960"/>
            <a:ext cx="4526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Used for testing and analysis.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9496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ptos"/>
              </a:rPr>
              <a:t>Saved experiment split: 57 baseline recordings (40 train, 8 validation, 9 normal test) + 16 anomaly recordings.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43600"/>
            <a:ext cx="10698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12 selected KPI features • Source: SpotLight Open RAN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04 •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End-to-end system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The system first detects unusual windows, then examines continuity over time.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14600"/>
            <a:ext cx="1627632" cy="141732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2724912"/>
            <a:ext cx="14813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KPI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3154680"/>
            <a:ext cx="148132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ptos"/>
              </a:rPr>
              <a:t>timestamped
multivariate series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48840" y="3218688"/>
            <a:ext cx="25603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41448" y="2514600"/>
            <a:ext cx="1627632" cy="141732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14600" y="2724912"/>
            <a:ext cx="14813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154680"/>
            <a:ext cx="148132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ptos"/>
              </a:rPr>
              <a:t>clean • scale
select features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87368" y="3218688"/>
            <a:ext cx="25603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79976" y="2514600"/>
            <a:ext cx="1627632" cy="141732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8" y="2724912"/>
            <a:ext cx="14813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3154680"/>
            <a:ext cx="148132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ptos"/>
              </a:rPr>
              <a:t>20 time steps
× 12 features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25896" y="3218688"/>
            <a:ext cx="25603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18504" y="2514600"/>
            <a:ext cx="1627632" cy="141732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91656" y="2724912"/>
            <a:ext cx="14813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LSTM AE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154680"/>
            <a:ext cx="148132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ptos"/>
              </a:rPr>
              <a:t>learn normal
patterns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64424" y="3218688"/>
            <a:ext cx="25603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57032" y="2514600"/>
            <a:ext cx="1627632" cy="141732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30184" y="2724912"/>
            <a:ext cx="14813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ERROR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3154680"/>
            <a:ext cx="148132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ptos"/>
              </a:rPr>
              <a:t>reconstruction
MSE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902952" y="3218688"/>
            <a:ext cx="256032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195560" y="2514600"/>
            <a:ext cx="1627632" cy="141732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68712" y="2724912"/>
            <a:ext cx="148132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DECISION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68712" y="3154680"/>
            <a:ext cx="1481328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ptos"/>
              </a:rPr>
              <a:t>threshold +
duration rules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" y="4709160"/>
            <a:ext cx="2971800" cy="73152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43000" y="4892040"/>
            <a:ext cx="2788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ptos"/>
              </a:rPr>
              <a:t>NORMAL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4709160"/>
            <a:ext cx="2971800" cy="73152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09160" y="4892040"/>
            <a:ext cx="2788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ptos"/>
              </a:rPr>
              <a:t>TRANSIENT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4709160"/>
            <a:ext cx="2971800" cy="73152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75320" y="4892040"/>
            <a:ext cx="2788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ptos"/>
              </a:rPr>
              <a:t>PERSISTENT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ptos"/>
              </a:rPr>
              <a:t>Conceptual workflow; duration rules require validation against event-level ground truth.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05 •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How the LSTM Autoencoder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An encoder compresses the sequence; a decoder reconstructs 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1965960" cy="123444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514600"/>
            <a:ext cx="18196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907791"/>
            <a:ext cx="181965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ptos"/>
              </a:rPr>
              <a:t>20 × 12
KPI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2331720"/>
            <a:ext cx="1828800" cy="123444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36392" y="2514600"/>
            <a:ext cx="16824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2907791"/>
            <a:ext cx="168249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ptos"/>
              </a:rPr>
              <a:t>LSTM 64 → 32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0368" y="2331720"/>
            <a:ext cx="1600200" cy="123444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2514600"/>
            <a:ext cx="1453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LATENT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907791"/>
            <a:ext cx="145389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ptos"/>
              </a:rPr>
              <a:t>compact
sequence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2331720"/>
            <a:ext cx="1828800" cy="123444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51192" y="2514600"/>
            <a:ext cx="16824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DECODER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192" y="2907791"/>
            <a:ext cx="168249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ptos"/>
              </a:rPr>
              <a:t>LSTM 32 → 64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331720"/>
            <a:ext cx="1965960" cy="123444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45752" y="2514600"/>
            <a:ext cx="18196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2907791"/>
            <a:ext cx="1819656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ptos"/>
              </a:rPr>
              <a:t>reconstructed
20 × 12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43200" y="2944368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19472" y="2944368"/>
            <a:ext cx="2743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2944368"/>
            <a:ext cx="292608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034272" y="2944368"/>
            <a:ext cx="292608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" y="4251960"/>
            <a:ext cx="4709160" cy="105156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4434840"/>
            <a:ext cx="4251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ptos"/>
              </a:rPr>
              <a:t>LOW RECONSTRUCTION 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4800600"/>
            <a:ext cx="4251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Sequence resembles learned normal behaviour.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251960"/>
            <a:ext cx="4709160" cy="105156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4434840"/>
            <a:ext cx="4251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ptos"/>
              </a:rPr>
              <a:t>HIGH RECONSTRUCTION ERROR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800600"/>
            <a:ext cx="4251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Sequence may be anomalous; compare with threshold.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715000"/>
            <a:ext cx="103327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ptos"/>
              </a:rPr>
              <a:t>Training objective: minimize mean squared reconstruction error (MSE).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06 • DETECTION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From reconstruction error to anomaly flag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Thresholding provides the first-stage decision.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4754880" cy="196596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RECONSTRUCTION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4160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Aptos"/>
              </a:rPr>
              <a:t>MSE = average of (actual KPI − reconstructed KPI)²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965960"/>
            <a:ext cx="4754880" cy="196596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2240280"/>
            <a:ext cx="42062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THRESHOLD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743200"/>
            <a:ext cx="4160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Error &gt; threshold  →  Anomaly
Error ≤ threshold  →  Normal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77840" y="2971800"/>
            <a:ext cx="77724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4434840"/>
            <a:ext cx="10607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ptos"/>
              </a:rPr>
              <a:t>Saved run threshold: 0.028941 (reported as validation 95th percentile).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106070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Important reproducibility note: the saved configuration also mentions a 99th percentile. This mismatch should be checked before claiming a final calibrated threshold.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07 •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Model and training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Values below are from the saved experiment artifacts.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5074920" cy="932688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975104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ptos"/>
              </a:rPr>
              <a:t>Input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965960"/>
            <a:ext cx="30175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20 time steps × 12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828800"/>
            <a:ext cx="5074920" cy="932688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7" y="1975104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ptos"/>
              </a:rP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1965960"/>
            <a:ext cx="30175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LSTM 64 → 32 → 32 → 64; Dense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90672"/>
            <a:ext cx="5074920" cy="932688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3236976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ptos"/>
              </a:rPr>
              <a:t>Loss / optimizer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227832"/>
            <a:ext cx="30175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Mean squared error / Adam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3090672"/>
            <a:ext cx="5074920" cy="932688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6247" y="3236976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ptos"/>
              </a:rPr>
              <a:t>Learning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3227832"/>
            <a:ext cx="30175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0.001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352544"/>
            <a:ext cx="5074920" cy="932688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" y="4498848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ptos"/>
              </a:rPr>
              <a:t>Batch size / epochs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489704"/>
            <a:ext cx="30175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64 / up to 100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4352544"/>
            <a:ext cx="5074920" cy="932688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6247" y="4498848"/>
            <a:ext cx="1600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ptos"/>
              </a:rPr>
              <a:t>Training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4489704"/>
            <a:ext cx="30175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Baseline KPI windows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0644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ptos"/>
              </a:rPr>
              <a:t>Training loss decreased from approximately 0.30791 to 0.02193; minimum validation loss was approximately 0.00990.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08 •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Detection performance on the saved test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Metrics show useful anomaly signal, but substantial false positives remain.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3337560" cy="114300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2971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40864"/>
            <a:ext cx="2971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>
                <a:solidFill>
                  <a:srgbClr val="000000"/>
                </a:solidFill>
                <a:latin typeface="Aptos"/>
              </a:rPr>
              <a:t>68.32%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3337560" cy="114300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36592" y="1993392"/>
            <a:ext cx="2971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340864"/>
            <a:ext cx="2971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>
                <a:solidFill>
                  <a:srgbClr val="000000"/>
                </a:solidFill>
                <a:latin typeface="Aptos"/>
              </a:rPr>
              <a:t>28.55%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828800"/>
            <a:ext cx="3337560" cy="114300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31352" y="1993392"/>
            <a:ext cx="2971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2340864"/>
            <a:ext cx="2971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>
                <a:solidFill>
                  <a:srgbClr val="000000"/>
                </a:solidFill>
                <a:latin typeface="Aptos"/>
              </a:rPr>
              <a:t>58.10%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83280"/>
            <a:ext cx="3337560" cy="114300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3547872"/>
            <a:ext cx="2971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F1-score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3895344"/>
            <a:ext cx="2971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>
                <a:solidFill>
                  <a:srgbClr val="000000"/>
                </a:solidFill>
                <a:latin typeface="Aptos"/>
              </a:rPr>
              <a:t>38.29%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383280"/>
            <a:ext cx="3337560" cy="114300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36592" y="3547872"/>
            <a:ext cx="2971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ROC–AUC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3895344"/>
            <a:ext cx="2971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>
                <a:solidFill>
                  <a:srgbClr val="000000"/>
                </a:solidFill>
                <a:latin typeface="Aptos"/>
              </a:rPr>
              <a:t>0.688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3383280"/>
            <a:ext cx="3337560" cy="114300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31352" y="3547872"/>
            <a:ext cx="2971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PR–AUC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1352" y="3895344"/>
            <a:ext cx="2971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>
                <a:solidFill>
                  <a:srgbClr val="000000"/>
                </a:solidFill>
                <a:latin typeface="Aptos"/>
              </a:rPr>
              <a:t>0.356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Interpretation: recall is higher than precision, meaning many labelled anomalies are found, but many normal windows are also flagged.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1500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These are saved-run results, not a claim of production-ready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09 •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Confusion matrix: false alarms are a major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Window-level counts from the saved evaluation.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148840"/>
            <a:ext cx="3474720" cy="123444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48840" y="2313432"/>
            <a:ext cx="3200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TRUE NEGATIVES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679192"/>
            <a:ext cx="32004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Aptos"/>
              </a:rPr>
              <a:t>101,371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3474720" cy="123444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313432"/>
            <a:ext cx="3200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FALSE POSITIVES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79192"/>
            <a:ext cx="32004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Aptos"/>
              </a:rPr>
              <a:t>42,613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794760"/>
            <a:ext cx="3474720" cy="123444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48840" y="3959352"/>
            <a:ext cx="3200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FALSE NEGATIVES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325112"/>
            <a:ext cx="32004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Aptos"/>
              </a:rPr>
              <a:t>12,283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94760"/>
            <a:ext cx="3474720" cy="123444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959352"/>
            <a:ext cx="3200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TRUE POSITIVES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325112"/>
            <a:ext cx="32004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Aptos"/>
              </a:rPr>
              <a:t>17,031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532120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ptos"/>
              </a:rPr>
              <a:t>Practical implication: threshold calibration, feature scaling, class imbalance and event-aware scoring need further investigation.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10 • TRANSIENT VS PERSISTENT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Duration-based classification: 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The project includes a duration rule, but this stage is not yet validated as a classifier.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4983480" cy="1874519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176272"/>
            <a:ext cx="4434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TRANSIENT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43891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ptos"/>
              </a:rPr>
              <a:t>Anomaly appears briefly and returns toward normal.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20240"/>
            <a:ext cx="4983480" cy="1874519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176272"/>
            <a:ext cx="4434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ptos"/>
              </a:rPr>
              <a:t>PERSISTENT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51760"/>
            <a:ext cx="43891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Aptos"/>
              </a:rPr>
              <a:t>Anomaly remains elevated across time and does not recover.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10424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Saved duration-rule output: 335 transient and 1,384 persistent detections (rule setting: 3 consecutive anomalous windows). These are rule-based outputs, not ground-truth-validated class counts.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5156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Caution: windows are 20 time steps long with stride 1, so adjacent windows overlap heavily. Counting windows as elapsed duration can exaggerate persistence. Event-level ground-truth validation is still needed.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11 • EVENT-LEVEL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Event matching reveals a key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A detector can flag many windows yet produce too many separate predicted events.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3291840" cy="109728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Reference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Aptos"/>
              </a:rPr>
              <a:t>69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920240"/>
            <a:ext cx="3291840" cy="109728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084832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Predicted events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423160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Aptos"/>
              </a:rPr>
              <a:t>1,719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920240"/>
            <a:ext cx="3291840" cy="109728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2084832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Matched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23160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Aptos"/>
              </a:rPr>
              <a:t>67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429000"/>
            <a:ext cx="3291840" cy="109728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593592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Event 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Aptos"/>
              </a:rPr>
              <a:t>3.90%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3429000"/>
            <a:ext cx="3291840" cy="109728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3593592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Event recall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931920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Aptos"/>
              </a:rPr>
              <a:t>97.10%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429000"/>
            <a:ext cx="3291840" cy="109728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0" y="3593592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Event 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931920"/>
            <a:ext cx="3108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>
                <a:solidFill>
                  <a:srgbClr val="000000"/>
                </a:solidFill>
                <a:latin typeface="Aptos"/>
              </a:rPr>
              <a:t>7.49%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349240"/>
            <a:ext cx="10332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Aptos"/>
              </a:rPr>
              <a:t>Priority improvement: merge nearby positive windows into coherent events, tune thresholds, and evaluate detection delay.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t>12 • TRAINING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ptos"/>
              </a:rPr>
              <a:t>Training and validation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Actual training-history figure saved by the project pipeline.</a:t>
            </a:r>
          </a:p>
        </p:txBody>
      </p:sp>
      <p:pic>
        <p:nvPicPr>
          <p:cNvPr id="6" name="Picture 5" descr="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932654"/>
            <a:ext cx="6016752" cy="364518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691640"/>
            <a:ext cx="3749039" cy="3566160"/>
          </a:xfrm>
          <a:prstGeom prst="round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09560" y="1965960"/>
            <a:ext cx="320040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ptos"/>
              </a:rPr>
              <a:t>WHAT THE GRAPH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2514600"/>
            <a:ext cx="3154680" cy="222830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0" dirty="0">
                <a:solidFill>
                  <a:srgbClr val="000000"/>
                </a:solidFill>
                <a:latin typeface="Aptos"/>
              </a:rPr>
              <a:t>• Training loss fell from ≈0.30791 to ≈0.02193.
• Minimum validation loss was ≈0.00990 near epoch 99.
• This indicates the model learned to reconstruct the training sequences; it does not by itself prove strong anomaly classification.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t>13 • DETECTION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ptos"/>
              </a:rPr>
              <a:t>Reconstruction-error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Saved plots help explain how the threshold separates normal and anomalous windows.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349240" cy="4251960"/>
          </a:xfrm>
          <a:prstGeom prst="round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normal_test_erro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755648"/>
            <a:ext cx="5029200" cy="3794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554480"/>
            <a:ext cx="5349240" cy="4251960"/>
          </a:xfrm>
          <a:prstGeom prst="round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nomaly_erro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755648"/>
            <a:ext cx="5029200" cy="3794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925312"/>
            <a:ext cx="4937760" cy="274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ptos"/>
              </a:rPr>
              <a:t>Normal test error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925312"/>
            <a:ext cx="4937760" cy="2743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ptos"/>
              </a:rPr>
              <a:t>Anomaly test error distribution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t>14 • TIME-SERIES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ptos"/>
              </a:rPr>
              <a:t>Anomaly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A time view is needed because the project focuses on transient versus persistent events.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52760" cy="4114800"/>
          </a:xfrm>
          <a:prstGeom prst="round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nomal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83080"/>
            <a:ext cx="1028700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870448"/>
            <a:ext cx="1033272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ptos"/>
              </a:rPr>
              <a:t>Note: adjacent windows overlap (20 samples, stride 1); duration must be calculated from timestamps/event merging, not raw window counts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t>15 • WIRELESS-NETWORK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ptos"/>
              </a:rPr>
              <a:t>Which communication metrics fit this dataset?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Evaluate the ML model in terms of network behaviour—but only report metrics supported by measurements.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5394960" cy="4434840"/>
          </a:xfrm>
          <a:prstGeom prst="round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9204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ptos"/>
              </a:rPr>
              <a:t>AVAILABLE KPI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4800600" cy="228985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600" b="0" dirty="0">
                <a:solidFill>
                  <a:srgbClr val="000000"/>
                </a:solidFill>
                <a:latin typeface="Aptos"/>
              </a:rPr>
              <a:t>• PUSCH count / average PUSCH count
• Uplink PRB size, maximum and minimum
• Uplink MCS, minimum and maximum
• Uplink transport block size (TBS), min/max
• UL transmission count
These can support analysis of radio-resource use, modulation/coding behavior and uplink transmission activity.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72768"/>
            <a:ext cx="5212080" cy="4434840"/>
          </a:xfrm>
          <a:prstGeom prst="round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783080"/>
            <a:ext cx="470916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ptos"/>
              </a:rPr>
              <a:t>METRICS: DIRECT VS DERIVED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67712"/>
            <a:ext cx="4617720" cy="253607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600" b="0" dirty="0">
                <a:solidFill>
                  <a:srgbClr val="000000"/>
                </a:solidFill>
                <a:latin typeface="Aptos"/>
              </a:rPr>
              <a:t>Potentially derivable after checking units and sampling interval:
• Data-rate / throughput estimate from transmitted bits or TBS over time
• PRB/resource-use trends; MCS/TBS behavior
Not directly measured in the selected 12 features:
• Latency, goodput, BER, PER, EVM
• Spectral efficiency and ergodic capacity (need suitable rate/bandwidth/channel measurements)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t>16 • WIRELESS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ptos"/>
              </a:rPr>
              <a:t>How to evaluate network impact responsibly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The current experiment evaluates anomaly detection; it does not yet measure end-to-end wireless QoS.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3611880"/>
          </a:xfrm>
          <a:prstGeom prst="round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901952"/>
            <a:ext cx="457200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ptos"/>
              </a:rPr>
              <a:t>REPORT NOW (SUPPORTED)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95728"/>
            <a:ext cx="4526280" cy="1797415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600" b="0" dirty="0">
                <a:solidFill>
                  <a:srgbClr val="000000"/>
                </a:solidFill>
                <a:latin typeface="Aptos"/>
              </a:rPr>
              <a:t>• Detection: precision, recall, F1, ROC–AUC, PR–AUC
• False-positive rate and false alarms
• Reconstruction error and threshold
• KPI patterns around detected events
• Radio-side proxies: PRB, MCS, TBS, UL transmission activity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3611880"/>
          </a:xfrm>
          <a:prstGeom prst="round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901952"/>
            <a:ext cx="4572000" cy="3200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ptos"/>
              </a:rPr>
              <a:t>TO CLAIM NETWORK QOS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95728"/>
            <a:ext cx="4526280" cy="2536079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600" b="0" dirty="0">
                <a:solidFill>
                  <a:srgbClr val="000000"/>
                </a:solidFill>
                <a:latin typeface="Aptos"/>
              </a:rPr>
              <a:t>Collect or derive, with units and sampling interval:
• Throughput / goodput (bit/s)
• Spectral efficiency (bit/s/Hz)
• Latency (</a:t>
            </a:r>
            <a:r>
              <a:rPr sz="1600" b="0" dirty="0" err="1">
                <a:solidFill>
                  <a:srgbClr val="000000"/>
                </a:solidFill>
                <a:latin typeface="Aptos"/>
              </a:rPr>
              <a:t>ms</a:t>
            </a:r>
            <a:r>
              <a:rPr sz="1600" b="0" dirty="0">
                <a:solidFill>
                  <a:srgbClr val="000000"/>
                </a:solidFill>
                <a:latin typeface="Aptos"/>
              </a:rPr>
              <a:t>), PER and BER
• EVM (%) and channel-quality measures
• Ergodic capacity only with channel/SNR assumptions or measurements
Then compare normal vs anomaly periods and, ideally, baseline detector vs proposed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10424160" cy="50292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ptos"/>
              </a:rPr>
              <a:t>Do not present unmeasured BER, PER, EVM, latency or capacity as achieved results. They are recommended future evaluation metrics if the required data becomes available.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97280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t>17 • FINAL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ptos"/>
              </a:rPr>
              <a:t>What we can conclude from the current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972800" cy="38404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ptos"/>
              </a:rPr>
              <a:t>The model detects abnormal KPI windows, but reducing false alarms and validating event duration remain key.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383280" cy="1234440"/>
          </a:xfrm>
          <a:prstGeom prst="round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938528"/>
            <a:ext cx="310896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ROC–AUC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67712"/>
            <a:ext cx="3108960" cy="4389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Aptos"/>
              </a:rPr>
              <a:t>0.688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1234440"/>
          </a:xfrm>
          <a:prstGeom prst="round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938528"/>
            <a:ext cx="310896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WINDOW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267712"/>
            <a:ext cx="3108960" cy="4389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Aptos"/>
              </a:rPr>
              <a:t>38.29%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737360"/>
            <a:ext cx="3383280" cy="1234440"/>
          </a:xfrm>
          <a:prstGeom prst="roundRect">
            <a:avLst/>
          </a:prstGeom>
          <a:solidFill>
            <a:srgbClr val="E1E1E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92440" y="1938528"/>
            <a:ext cx="3108960" cy="2286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EVENT 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267712"/>
            <a:ext cx="3108960" cy="43891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Aptos"/>
              </a:rPr>
              <a:t>97.10%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10149840" cy="1058751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600" b="0" dirty="0">
                <a:solidFill>
                  <a:srgbClr val="000000"/>
                </a:solidFill>
                <a:latin typeface="Aptos"/>
              </a:rPr>
              <a:t>Wireless-communication interpretation: the selected KPIs describe uplink scheduling/resource use and transmission behavior. The model can help surface unusual radio-side operating patterns. However, the present dataset and saved outputs do not establish improvements in throughput, spectral efficiency, latency, BER/PER, EVM or capacity. Those require additional measurements and a controlled comparison.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257800"/>
            <a:ext cx="10149840" cy="45720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Aptos"/>
              </a:rPr>
              <a:t>Recommended next step: align each anomaly with timestamped radio KPIs, compute only metrics with valid units, and compare event-level performance against a baseline detector.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18 •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What the current prototype demonstrates—and what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A clear, honest summary strengthens the final presentation.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66360" cy="342900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526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WHAT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4526280" cy="1461939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rPr sz="1600" dirty="0">
                <a:solidFill>
                  <a:srgbClr val="000000"/>
                </a:solidFill>
              </a:rPr>
              <a:t>• End-to-end KPI preprocessing and windowing</a:t>
            </a:r>
          </a:p>
          <a:p>
            <a:pPr>
              <a:spcAft>
                <a:spcPts val="10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rPr sz="1600" dirty="0">
                <a:solidFill>
                  <a:srgbClr val="000000"/>
                </a:solidFill>
              </a:rPr>
              <a:t>• LSTM Autoencoder trained on baseline data</a:t>
            </a:r>
          </a:p>
          <a:p>
            <a:pPr>
              <a:spcAft>
                <a:spcPts val="10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rPr sz="1600" dirty="0">
                <a:solidFill>
                  <a:srgbClr val="000000"/>
                </a:solidFill>
              </a:rPr>
              <a:t>• Reconstruction-error anomaly scoring</a:t>
            </a:r>
          </a:p>
          <a:p>
            <a:pPr>
              <a:spcAft>
                <a:spcPts val="1000"/>
              </a:spcAft>
              <a:defRPr sz="1300">
                <a:solidFill>
                  <a:srgbClr val="F7F9FC"/>
                </a:solidFill>
                <a:latin typeface="Aptos"/>
              </a:defRPr>
            </a:pPr>
            <a:r>
              <a:rPr sz="1600" dirty="0">
                <a:solidFill>
                  <a:srgbClr val="000000"/>
                </a:solidFill>
              </a:rPr>
              <a:t>• Initial window-level and event-level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166360" cy="3429000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103120"/>
            <a:ext cx="4526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ptos"/>
              </a:rP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9880" y="2423160"/>
            <a:ext cx="4526280" cy="2667397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F7F9FC"/>
                </a:solidFill>
                <a:latin typeface="Aptos"/>
              </a:defRPr>
            </a:pPr>
            <a:r>
              <a:rPr sz="1600" dirty="0">
                <a:solidFill>
                  <a:srgbClr val="000000"/>
                </a:solidFill>
              </a:rPr>
              <a:t>• Resolve 95th vs 99th percentile threshold mismatch</a:t>
            </a:r>
          </a:p>
          <a:p>
            <a:pPr>
              <a:spcAft>
                <a:spcPts val="700"/>
              </a:spcAft>
              <a:defRPr sz="1200">
                <a:solidFill>
                  <a:srgbClr val="F7F9FC"/>
                </a:solidFill>
                <a:latin typeface="Aptos"/>
              </a:defRPr>
            </a:pPr>
            <a:r>
              <a:rPr sz="1600" dirty="0">
                <a:solidFill>
                  <a:srgbClr val="000000"/>
                </a:solidFill>
              </a:rPr>
              <a:t>• Reduce false positives and improve event merging</a:t>
            </a:r>
          </a:p>
          <a:p>
            <a:pPr>
              <a:spcAft>
                <a:spcPts val="700"/>
              </a:spcAft>
              <a:defRPr sz="1200">
                <a:solidFill>
                  <a:srgbClr val="F7F9FC"/>
                </a:solidFill>
                <a:latin typeface="Aptos"/>
              </a:defRPr>
            </a:pPr>
            <a:r>
              <a:rPr sz="1600" dirty="0">
                <a:solidFill>
                  <a:srgbClr val="000000"/>
                </a:solidFill>
              </a:rPr>
              <a:t>• Correct duration logic for overlapping windows</a:t>
            </a:r>
          </a:p>
          <a:p>
            <a:pPr>
              <a:spcAft>
                <a:spcPts val="700"/>
              </a:spcAft>
              <a:defRPr sz="1200">
                <a:solidFill>
                  <a:srgbClr val="F7F9FC"/>
                </a:solidFill>
                <a:latin typeface="Aptos"/>
              </a:defRPr>
            </a:pPr>
            <a:r>
              <a:rPr sz="1600" dirty="0">
                <a:solidFill>
                  <a:srgbClr val="000000"/>
                </a:solidFill>
              </a:rPr>
              <a:t>• Validate transient/persistent labels with ground truth</a:t>
            </a:r>
          </a:p>
          <a:p>
            <a:pPr>
              <a:spcAft>
                <a:spcPts val="700"/>
              </a:spcAft>
              <a:defRPr sz="1200">
                <a:solidFill>
                  <a:srgbClr val="F7F9FC"/>
                </a:solidFill>
                <a:latin typeface="Aptos"/>
              </a:defRPr>
            </a:pPr>
            <a:r>
              <a:rPr sz="1600" dirty="0">
                <a:solidFill>
                  <a:srgbClr val="000000"/>
                </a:solidFill>
              </a:rPr>
              <a:t>• Compare with simple baselines; measure detection delay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2356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ptos"/>
              </a:rPr>
              <a:t>Category coverage is incomplete in saved labelled subsets for MAC and NETWORK; zero positive windows are not definitive evidence of failure.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19 •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The project is a working prototype and a foundation for more reliable Open RAN monitoring.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929384"/>
            <a:ext cx="91440" cy="91440"/>
          </a:xfrm>
          <a:prstGeom prst="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33856" y="1828800"/>
            <a:ext cx="100218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An LSTM Autoencoder can learn temporal patterns in baseline Open RAN KPIs.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752344"/>
            <a:ext cx="91440" cy="91440"/>
          </a:xfrm>
          <a:prstGeom prst="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33856" y="2651760"/>
            <a:ext cx="100218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Reconstruction error provides an initial anomaly signal.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75303"/>
            <a:ext cx="91440" cy="914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33856" y="3474720"/>
            <a:ext cx="100218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The saved test run achieved ROC–AUC 0.688, but precision and event-level F1 remain low.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398264"/>
            <a:ext cx="91440" cy="914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3856" y="4297680"/>
            <a:ext cx="10021824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Transient vs persistent classification needs duration-aware, ground-truth validation.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5486400"/>
            <a:ext cx="10241280" cy="530352"/>
          </a:xfrm>
          <a:prstGeom prst="round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5596128"/>
            <a:ext cx="9875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Final message: detect unusual behaviour, then establish whether it persists before prioritizing action.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20 •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ptos"/>
              </a:rPr>
              <a:t>Research and project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Aptos"/>
              </a:rPr>
              <a:t>Key sources supporting the dataset and model approach.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0515600" cy="3566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2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• Sun et al., “SpotLight: Accurate, Explainable and Efficient Anomaly Detection for Open RAN,” ACM MobiCom 2024. DOI: 10.1145/3636534.3649380</a:t>
            </a:r>
          </a:p>
          <a:p>
            <a:pPr>
              <a:spcAft>
                <a:spcPts val="1200"/>
              </a:spcAft>
              <a:defRPr sz="12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• Malhotra et al., “LSTM-based Encoder-Decoder for Multi-sensor Anomaly Detection,” 2016. arXiv:1607.00148</a:t>
            </a:r>
          </a:p>
          <a:p>
            <a:pPr>
              <a:spcAft>
                <a:spcPts val="1200"/>
              </a:spcAft>
              <a:defRPr sz="12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• Su et al., “Robust Anomaly Detection for Multivariate Time Series through Stochastic Recurrent Neural Network (OmniAnomaly),” KDD 2019.</a:t>
            </a:r>
          </a:p>
          <a:p>
            <a:pPr>
              <a:spcAft>
                <a:spcPts val="1200"/>
              </a:spcAft>
              <a:defRPr sz="12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• Xu et al., “Unsupervised Anomaly Detection via Variational Auto-Encoder for Seasonal KPIs in Web Applications (Donut),” 2018.</a:t>
            </a:r>
          </a:p>
          <a:p>
            <a:pPr>
              <a:spcAft>
                <a:spcPts val="1200"/>
              </a:spcAft>
              <a:defRPr sz="1200">
                <a:solidFill>
                  <a:srgbClr val="F7F9FC"/>
                </a:solidFill>
                <a:latin typeface="Aptos"/>
              </a:defRPr>
            </a:pPr>
            <a:r>
              <a:rPr>
                <a:solidFill>
                  <a:srgbClr val="000000"/>
                </a:solidFill>
              </a:rPr>
              <a:t>• SpotLight code repository: github.com/netsys-edinburgh/SpotLight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ptos"/>
              </a:rPr>
              <a:t>FINAL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7498079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000000"/>
                </a:solidFill>
                <a:latin typeface="Aptos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26080"/>
            <a:ext cx="74980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ptos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886200"/>
            <a:ext cx="868680" cy="64008"/>
          </a:xfrm>
          <a:prstGeom prst="rect">
            <a:avLst/>
          </a:prstGeom>
          <a:solidFill>
            <a:srgbClr val="EEEEEE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73152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Aptos"/>
              </a:rPr>
              <a:t>LSTM Autoencoder-Based Persistent and Transient Anomaly Classification in Open RAN 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9601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ptos"/>
              </a:rPr>
              <a:t>Department of Electronics &amp; Communication Engineering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1792" y="6510528"/>
            <a:ext cx="91440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ptos"/>
              </a:rPr>
              <a:t>LSTM AUTOENCODER • OPEN RAN KPI ANOMALY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2068</Words>
  <Application>Microsoft Office PowerPoint</Application>
  <PresentationFormat>Widescreen</PresentationFormat>
  <Paragraphs>290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RAN LSTM Autoencoder Final Presentation — Black &amp; White with Graphs and Wireless Metrics</dc:title>
  <dc:subject>Final project presentation with saved experiment graphs and wireless communication evaluation framework</dc:subject>
  <dc:creator>Project Team</dc:creator>
  <cp:keywords>Open RAN, LSTM, Autoencoder, KPI, Anomaly Detection, Transient, Persistent</cp:keywords>
  <dc:description>generated using python-pptx</dc:description>
  <cp:lastModifiedBy>Yaswanth Srikar Sattineni</cp:lastModifiedBy>
  <cp:revision>3</cp:revision>
  <dcterms:created xsi:type="dcterms:W3CDTF">2013-01-27T09:14:16Z</dcterms:created>
  <dcterms:modified xsi:type="dcterms:W3CDTF">2026-10-14T16:20:56Z</dcterms:modified>
  <cp:category/>
</cp:coreProperties>
</file>